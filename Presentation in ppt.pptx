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type="screen4x3" cy="6858000" cx="12191695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tableStyles" Target="tableStyle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7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78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7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8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8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1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22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72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2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2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3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3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3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3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52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5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5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5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5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5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5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6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6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6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6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6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6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6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6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6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2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2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2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0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71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72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7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7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7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0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41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742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4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4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4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4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4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4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5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0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3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3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3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3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/>
      </p:grpSpPr>
      <p:sp>
        <p:nvSpPr>
          <p:cNvPr id="1048584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0B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5" name="Oval 2"/>
          <p:cNvSpPr/>
          <p:nvPr/>
        </p:nvSpPr>
        <p:spPr>
          <a:xfrm>
            <a:off x="9784080" y="365760"/>
            <a:ext cx="1554480" cy="1554480"/>
          </a:xfrm>
          <a:prstGeom prst="ellipse"/>
          <a:solidFill>
            <a:srgbClr val="F4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6" name="Oval 3"/>
          <p:cNvSpPr/>
          <p:nvPr/>
        </p:nvSpPr>
        <p:spPr>
          <a:xfrm>
            <a:off x="10698480" y="5394960"/>
            <a:ext cx="1097280" cy="1097280"/>
          </a:xfrm>
          <a:prstGeom prst="ellipse"/>
          <a:solidFill>
            <a:srgbClr val="FAC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7" name="Oval 4"/>
          <p:cNvSpPr/>
          <p:nvPr/>
        </p:nvSpPr>
        <p:spPr>
          <a:xfrm>
            <a:off x="182880" y="5303520"/>
            <a:ext cx="914400" cy="914400"/>
          </a:xfrm>
          <a:prstGeom prst="ellipse"/>
          <a:solidFill>
            <a:srgbClr val="23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8" name="TextBox 5"/>
          <p:cNvSpPr txBox="1"/>
          <p:nvPr/>
        </p:nvSpPr>
        <p:spPr>
          <a:xfrm>
            <a:off x="731519" y="1563370"/>
            <a:ext cx="5495759" cy="891539"/>
          </a:xfrm>
          <a:prstGeom prst="rect"/>
          <a:noFill/>
        </p:spPr>
        <p:txBody>
          <a:bodyPr wrap="square">
            <a:spAutoFit/>
          </a:bodyPr>
          <a:p>
            <a:pPr>
              <a:defRPr b="1" sz="4200">
                <a:solidFill>
                  <a:srgbClr val="FFFFFF"/>
                </a:solidFill>
              </a:defRPr>
            </a:pPr>
            <a:r>
              <a:rPr sz="5400"/>
              <a:t>KISAN DIRECT</a:t>
            </a:r>
          </a:p>
        </p:txBody>
      </p:sp>
      <p:sp>
        <p:nvSpPr>
          <p:cNvPr id="1048589" name="TextBox 6"/>
          <p:cNvSpPr txBox="1"/>
          <p:nvPr/>
        </p:nvSpPr>
        <p:spPr>
          <a:xfrm>
            <a:off x="731519" y="2623819"/>
            <a:ext cx="5153641" cy="929640"/>
          </a:xfrm>
          <a:prstGeom prst="rect"/>
          <a:noFill/>
        </p:spPr>
        <p:txBody>
          <a:bodyPr wrap="square">
            <a:spAutoFit/>
          </a:bodyPr>
          <a:p>
            <a:pPr>
              <a:defRPr b="1" sz="2500">
                <a:solidFill>
                  <a:srgbClr val="FAC743"/>
                </a:solidFill>
              </a:defRPr>
            </a:pPr>
            <a:r>
              <a:rPr sz="2800"/>
              <a:t>Application for Direct Sale</a:t>
            </a:r>
            <a:br>
              <a:rPr sz="2800"/>
            </a:br>
            <a:r>
              <a:rPr sz="2800"/>
              <a:t>of Products by Farmers</a:t>
            </a:r>
          </a:p>
        </p:txBody>
      </p:sp>
      <p:pic>
        <p:nvPicPr>
          <p:cNvPr id="2097152" name="Picture 10" descr="image6.jpe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543800" y="1325880"/>
            <a:ext cx="3977639" cy="4251960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/>
      </p:grpSpPr>
      <p:sp>
        <p:nvSpPr>
          <p:cNvPr id="1048593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4" name="TextBox 2"/>
          <p:cNvSpPr txBox="1"/>
          <p:nvPr/>
        </p:nvSpPr>
        <p:spPr>
          <a:xfrm>
            <a:off x="594360" y="384048"/>
            <a:ext cx="8961120" cy="535940"/>
          </a:xfrm>
          <a:prstGeom prst="rect"/>
          <a:noFill/>
        </p:spPr>
        <p:txBody>
          <a:bodyPr wrap="square">
            <a:spAutoFit/>
          </a:bodyPr>
          <a:p>
            <a:pPr>
              <a:defRPr b="1" sz="3000">
                <a:solidFill>
                  <a:srgbClr val="0B4E2F"/>
                </a:solidFill>
              </a:defRPr>
            </a:pPr>
            <a:r>
              <a:t>Problem</a:t>
            </a:r>
          </a:p>
        </p:txBody>
      </p:sp>
      <p:sp>
        <p:nvSpPr>
          <p:cNvPr id="1048595" name="TextBox 3"/>
          <p:cNvSpPr txBox="1"/>
          <p:nvPr/>
        </p:nvSpPr>
        <p:spPr>
          <a:xfrm>
            <a:off x="10789920" y="438912"/>
            <a:ext cx="731520" cy="281940"/>
          </a:xfrm>
          <a:prstGeom prst="rect"/>
          <a:noFill/>
        </p:spPr>
        <p:txBody>
          <a:bodyPr wrap="square">
            <a:spAutoFit/>
          </a:bodyPr>
          <a:p>
            <a:pPr algn="r">
              <a:defRPr b="1" sz="1300">
                <a:solidFill>
                  <a:srgbClr val="147E46"/>
                </a:solidFill>
              </a:defRPr>
            </a:pPr>
            <a:r>
              <a:t>02</a:t>
            </a:r>
          </a:p>
        </p:txBody>
      </p:sp>
      <p:sp>
        <p:nvSpPr>
          <p:cNvPr id="1048596" name="Rectangle 4"/>
          <p:cNvSpPr/>
          <p:nvPr/>
        </p:nvSpPr>
        <p:spPr>
          <a:xfrm>
            <a:off x="594360" y="1024128"/>
            <a:ext cx="1005840" cy="73152"/>
          </a:xfrm>
          <a:prstGeom prst="rect"/>
          <a:solidFill>
            <a:srgbClr val="F4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pic>
        <p:nvPicPr>
          <p:cNvPr id="2097153" name="Picture 5" descr="image2.jpe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40080" y="1417320"/>
            <a:ext cx="3657600" cy="4526280"/>
          </a:xfrm>
          <a:prstGeom prst="rect"/>
        </p:spPr>
      </p:pic>
      <p:sp>
        <p:nvSpPr>
          <p:cNvPr id="1048597" name="Rounded Rectangle 6"/>
          <p:cNvSpPr/>
          <p:nvPr/>
        </p:nvSpPr>
        <p:spPr>
          <a:xfrm>
            <a:off x="4617720" y="1463040"/>
            <a:ext cx="2971800" cy="1417320"/>
          </a:xfrm>
          <a:prstGeom prst="roundRect"/>
          <a:solidFill>
            <a:srgbClr val="FFFFFF"/>
          </a:solidFill>
          <a:ln>
            <a:solidFill>
              <a:srgbClr val="E1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8" name="Rectangle 7"/>
          <p:cNvSpPr/>
          <p:nvPr/>
        </p:nvSpPr>
        <p:spPr>
          <a:xfrm>
            <a:off x="4617720" y="1463040"/>
            <a:ext cx="82296" cy="1417320"/>
          </a:xfrm>
          <a:prstGeom prst="rect"/>
          <a:solidFill>
            <a:srgbClr val="D64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9" name="TextBox 8"/>
          <p:cNvSpPr txBox="1"/>
          <p:nvPr/>
        </p:nvSpPr>
        <p:spPr>
          <a:xfrm>
            <a:off x="4846320" y="1627632"/>
            <a:ext cx="2560320" cy="345440"/>
          </a:xfrm>
          <a:prstGeom prst="rect"/>
          <a:noFill/>
        </p:spPr>
        <p:txBody>
          <a:bodyPr wrap="square">
            <a:spAutoFit/>
          </a:bodyPr>
          <a:p>
            <a:pPr>
              <a:defRPr b="1" sz="1700">
                <a:solidFill>
                  <a:srgbClr val="D64A3D"/>
                </a:solidFill>
              </a:defRPr>
            </a:pPr>
            <a:r>
              <a:t>Middlemen</a:t>
            </a:r>
          </a:p>
        </p:txBody>
      </p:sp>
      <p:sp>
        <p:nvSpPr>
          <p:cNvPr id="1048600" name="TextBox 9"/>
          <p:cNvSpPr txBox="1"/>
          <p:nvPr/>
        </p:nvSpPr>
        <p:spPr>
          <a:xfrm>
            <a:off x="4846320" y="2029968"/>
            <a:ext cx="2560320" cy="704088"/>
          </a:xfrm>
          <a:prstGeom prst="rect"/>
          <a:noFill/>
        </p:spPr>
        <p:txBody>
          <a:bodyPr wrap="square">
            <a:spAutoFit/>
          </a:bodyPr>
          <a:p>
            <a:pPr>
              <a:defRPr b="0" sz="1400">
                <a:solidFill>
                  <a:srgbClr val="202A26"/>
                </a:solidFill>
              </a:defRPr>
            </a:pPr>
            <a:r>
              <a:t>Farmers depend on intermediaries, reducing direct customer interaction.</a:t>
            </a:r>
          </a:p>
        </p:txBody>
      </p:sp>
      <p:sp>
        <p:nvSpPr>
          <p:cNvPr id="1048601" name="Rounded Rectangle 10"/>
          <p:cNvSpPr/>
          <p:nvPr/>
        </p:nvSpPr>
        <p:spPr>
          <a:xfrm>
            <a:off x="7818120" y="1463040"/>
            <a:ext cx="3611880" cy="1417320"/>
          </a:xfrm>
          <a:prstGeom prst="roundRect"/>
          <a:solidFill>
            <a:srgbClr val="FFFFFF"/>
          </a:solidFill>
          <a:ln>
            <a:solidFill>
              <a:srgbClr val="E1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2" name="Rectangle 11"/>
          <p:cNvSpPr/>
          <p:nvPr/>
        </p:nvSpPr>
        <p:spPr>
          <a:xfrm>
            <a:off x="7818120" y="1463040"/>
            <a:ext cx="82296" cy="1417320"/>
          </a:xfrm>
          <a:prstGeom prst="rect"/>
          <a:solidFill>
            <a:srgbClr val="F4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3" name="TextBox 12"/>
          <p:cNvSpPr txBox="1"/>
          <p:nvPr/>
        </p:nvSpPr>
        <p:spPr>
          <a:xfrm>
            <a:off x="8046720" y="1627632"/>
            <a:ext cx="3200400" cy="345440"/>
          </a:xfrm>
          <a:prstGeom prst="rect"/>
          <a:noFill/>
        </p:spPr>
        <p:txBody>
          <a:bodyPr wrap="square">
            <a:spAutoFit/>
          </a:bodyPr>
          <a:p>
            <a:pPr>
              <a:defRPr b="1" sz="1700">
                <a:solidFill>
                  <a:srgbClr val="F4912D"/>
                </a:solidFill>
              </a:defRPr>
            </a:pPr>
            <a:r>
              <a:t>Lower Earnings</a:t>
            </a:r>
          </a:p>
        </p:txBody>
      </p:sp>
      <p:sp>
        <p:nvSpPr>
          <p:cNvPr id="1048604" name="TextBox 13"/>
          <p:cNvSpPr txBox="1"/>
          <p:nvPr/>
        </p:nvSpPr>
        <p:spPr>
          <a:xfrm>
            <a:off x="8046720" y="2029968"/>
            <a:ext cx="3200400" cy="497840"/>
          </a:xfrm>
          <a:prstGeom prst="rect"/>
          <a:noFill/>
        </p:spPr>
        <p:txBody>
          <a:bodyPr wrap="square">
            <a:spAutoFit/>
          </a:bodyPr>
          <a:p>
            <a:pPr>
              <a:defRPr b="0" sz="1400">
                <a:solidFill>
                  <a:srgbClr val="202A26"/>
                </a:solidFill>
              </a:defRPr>
            </a:pPr>
            <a:r>
              <a:t>Middlemen can reduce the share earned by farmers.</a:t>
            </a:r>
          </a:p>
        </p:txBody>
      </p:sp>
      <p:sp>
        <p:nvSpPr>
          <p:cNvPr id="1048605" name="Rounded Rectangle 14"/>
          <p:cNvSpPr/>
          <p:nvPr/>
        </p:nvSpPr>
        <p:spPr>
          <a:xfrm>
            <a:off x="4617720" y="3154680"/>
            <a:ext cx="2971800" cy="1417320"/>
          </a:xfrm>
          <a:prstGeom prst="roundRect"/>
          <a:solidFill>
            <a:srgbClr val="FFFFFF"/>
          </a:solidFill>
          <a:ln>
            <a:solidFill>
              <a:srgbClr val="E1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6" name="Rectangle 15"/>
          <p:cNvSpPr/>
          <p:nvPr/>
        </p:nvSpPr>
        <p:spPr>
          <a:xfrm>
            <a:off x="4617720" y="3154680"/>
            <a:ext cx="82296" cy="1417320"/>
          </a:xfrm>
          <a:prstGeom prst="rect"/>
          <a:solidFill>
            <a:srgbClr val="664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7" name="TextBox 16"/>
          <p:cNvSpPr txBox="1"/>
          <p:nvPr/>
        </p:nvSpPr>
        <p:spPr>
          <a:xfrm>
            <a:off x="4846320" y="3319272"/>
            <a:ext cx="2560320" cy="320040"/>
          </a:xfrm>
          <a:prstGeom prst="rect"/>
          <a:noFill/>
        </p:spPr>
        <p:txBody>
          <a:bodyPr wrap="square">
            <a:spAutoFit/>
          </a:bodyPr>
          <a:p>
            <a:pPr>
              <a:defRPr b="1" sz="1700">
                <a:solidFill>
                  <a:srgbClr val="664DA1"/>
                </a:solidFill>
              </a:defRPr>
            </a:pPr>
            <a:r>
              <a:t>Difficult Selling</a:t>
            </a:r>
          </a:p>
        </p:txBody>
      </p:sp>
      <p:sp>
        <p:nvSpPr>
          <p:cNvPr id="1048608" name="TextBox 17"/>
          <p:cNvSpPr txBox="1"/>
          <p:nvPr/>
        </p:nvSpPr>
        <p:spPr>
          <a:xfrm>
            <a:off x="4846320" y="3721608"/>
            <a:ext cx="2560320" cy="497840"/>
          </a:xfrm>
          <a:prstGeom prst="rect"/>
          <a:noFill/>
        </p:spPr>
        <p:txBody>
          <a:bodyPr wrap="square">
            <a:spAutoFit/>
          </a:bodyPr>
          <a:p>
            <a:pPr>
              <a:defRPr b="0" sz="1400">
                <a:solidFill>
                  <a:srgbClr val="202A26"/>
                </a:solidFill>
              </a:defRPr>
            </a:pPr>
            <a:r>
              <a:t>Farmers need a simple way to list products digitally.</a:t>
            </a:r>
          </a:p>
        </p:txBody>
      </p:sp>
      <p:sp>
        <p:nvSpPr>
          <p:cNvPr id="1048609" name="Rounded Rectangle 18"/>
          <p:cNvSpPr/>
          <p:nvPr/>
        </p:nvSpPr>
        <p:spPr>
          <a:xfrm>
            <a:off x="7818120" y="3154680"/>
            <a:ext cx="3611880" cy="1417320"/>
          </a:xfrm>
          <a:prstGeom prst="roundRect"/>
          <a:solidFill>
            <a:srgbClr val="FFFFFF"/>
          </a:solidFill>
          <a:ln>
            <a:solidFill>
              <a:srgbClr val="E1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0" name="Rectangle 19"/>
          <p:cNvSpPr/>
          <p:nvPr/>
        </p:nvSpPr>
        <p:spPr>
          <a:xfrm>
            <a:off x="7818120" y="3154680"/>
            <a:ext cx="82296" cy="1417320"/>
          </a:xfrm>
          <a:prstGeom prst="rect"/>
          <a:solidFill>
            <a:srgbClr val="23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1" name="TextBox 20"/>
          <p:cNvSpPr txBox="1"/>
          <p:nvPr/>
        </p:nvSpPr>
        <p:spPr>
          <a:xfrm>
            <a:off x="8046720" y="3319272"/>
            <a:ext cx="3200400" cy="320040"/>
          </a:xfrm>
          <a:prstGeom prst="rect"/>
          <a:noFill/>
        </p:spPr>
        <p:txBody>
          <a:bodyPr wrap="square">
            <a:spAutoFit/>
          </a:bodyPr>
          <a:p>
            <a:pPr>
              <a:defRPr b="1" sz="1700">
                <a:solidFill>
                  <a:srgbClr val="23978B"/>
                </a:solidFill>
              </a:defRPr>
            </a:pPr>
            <a:r>
              <a:t>Rural Usability</a:t>
            </a:r>
          </a:p>
        </p:txBody>
      </p:sp>
      <p:sp>
        <p:nvSpPr>
          <p:cNvPr id="1048612" name="TextBox 21"/>
          <p:cNvSpPr txBox="1"/>
          <p:nvPr/>
        </p:nvSpPr>
        <p:spPr>
          <a:xfrm>
            <a:off x="8046720" y="3721608"/>
            <a:ext cx="3200400" cy="497840"/>
          </a:xfrm>
          <a:prstGeom prst="rect"/>
          <a:noFill/>
        </p:spPr>
        <p:txBody>
          <a:bodyPr wrap="square">
            <a:spAutoFit/>
          </a:bodyPr>
          <a:p>
            <a:pPr>
              <a:defRPr b="0" sz="1400">
                <a:solidFill>
                  <a:srgbClr val="202A26"/>
                </a:solidFill>
              </a:defRPr>
            </a:pPr>
            <a:r>
              <a:t>The platform must be simple, clear and mobile-friendly.</a:t>
            </a:r>
          </a:p>
        </p:txBody>
      </p:sp>
      <p:sp>
        <p:nvSpPr>
          <p:cNvPr id="1048613" name="TextBox 22"/>
          <p:cNvSpPr txBox="1"/>
          <p:nvPr/>
        </p:nvSpPr>
        <p:spPr>
          <a:xfrm>
            <a:off x="4663440" y="5074920"/>
            <a:ext cx="6583680" cy="408940"/>
          </a:xfrm>
          <a:prstGeom prst="rect"/>
          <a:noFill/>
        </p:spPr>
        <p:txBody>
          <a:bodyPr wrap="square">
            <a:spAutoFit/>
          </a:bodyPr>
          <a:p>
            <a:pPr>
              <a:defRPr b="1" sz="2200">
                <a:solidFill>
                  <a:srgbClr val="0B4E2F"/>
                </a:solidFill>
              </a:defRPr>
            </a:pPr>
            <a:r>
              <a:t>Need: Direct • Simple • Mobile-friendly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/>
      </p:grpSpPr>
      <p:sp>
        <p:nvSpPr>
          <p:cNvPr id="1048614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5" name="TextBox 2"/>
          <p:cNvSpPr txBox="1"/>
          <p:nvPr/>
        </p:nvSpPr>
        <p:spPr>
          <a:xfrm>
            <a:off x="594360" y="384048"/>
            <a:ext cx="8961120" cy="535940"/>
          </a:xfrm>
          <a:prstGeom prst="rect"/>
          <a:noFill/>
        </p:spPr>
        <p:txBody>
          <a:bodyPr wrap="square">
            <a:spAutoFit/>
          </a:bodyPr>
          <a:p>
            <a:pPr>
              <a:defRPr b="1" sz="3000">
                <a:solidFill>
                  <a:srgbClr val="0B4E2F"/>
                </a:solidFill>
              </a:defRPr>
            </a:pPr>
            <a:r>
              <a:t>Solution</a:t>
            </a:r>
          </a:p>
        </p:txBody>
      </p:sp>
      <p:sp>
        <p:nvSpPr>
          <p:cNvPr id="1048616" name="TextBox 3"/>
          <p:cNvSpPr txBox="1"/>
          <p:nvPr/>
        </p:nvSpPr>
        <p:spPr>
          <a:xfrm>
            <a:off x="10789920" y="438912"/>
            <a:ext cx="731520" cy="281940"/>
          </a:xfrm>
          <a:prstGeom prst="rect"/>
          <a:noFill/>
        </p:spPr>
        <p:txBody>
          <a:bodyPr wrap="square">
            <a:spAutoFit/>
          </a:bodyPr>
          <a:p>
            <a:pPr algn="r">
              <a:defRPr b="1" sz="1300">
                <a:solidFill>
                  <a:srgbClr val="147E46"/>
                </a:solidFill>
              </a:defRPr>
            </a:pPr>
            <a:r>
              <a:t>03</a:t>
            </a:r>
          </a:p>
        </p:txBody>
      </p:sp>
      <p:sp>
        <p:nvSpPr>
          <p:cNvPr id="1048617" name="Rectangle 4"/>
          <p:cNvSpPr/>
          <p:nvPr/>
        </p:nvSpPr>
        <p:spPr>
          <a:xfrm>
            <a:off x="594360" y="1024128"/>
            <a:ext cx="1005840" cy="73152"/>
          </a:xfrm>
          <a:prstGeom prst="rect"/>
          <a:solidFill>
            <a:srgbClr val="F4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8" name="TextBox 5"/>
          <p:cNvSpPr txBox="1"/>
          <p:nvPr/>
        </p:nvSpPr>
        <p:spPr>
          <a:xfrm>
            <a:off x="685800" y="1325880"/>
            <a:ext cx="6583680" cy="457200"/>
          </a:xfrm>
          <a:prstGeom prst="rect"/>
          <a:noFill/>
        </p:spPr>
        <p:txBody>
          <a:bodyPr wrap="square">
            <a:spAutoFit/>
          </a:bodyPr>
          <a:p>
            <a:pPr>
              <a:defRPr b="1" sz="2300">
                <a:solidFill>
                  <a:srgbClr val="147E46"/>
                </a:solidFill>
              </a:defRPr>
            </a:pPr>
            <a:r>
              <a:t>A direct farmer-to-customer marketplace</a:t>
            </a:r>
          </a:p>
        </p:txBody>
      </p:sp>
      <p:sp>
        <p:nvSpPr>
          <p:cNvPr id="1048619" name="Rounded Rectangle 6"/>
          <p:cNvSpPr/>
          <p:nvPr/>
        </p:nvSpPr>
        <p:spPr>
          <a:xfrm>
            <a:off x="685800" y="1965960"/>
            <a:ext cx="3246120" cy="1234440"/>
          </a:xfrm>
          <a:prstGeom prst="roundRect"/>
          <a:solidFill>
            <a:srgbClr val="FFFFFF"/>
          </a:solidFill>
          <a:ln>
            <a:solidFill>
              <a:srgbClr val="E1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0" name="Rectangle 7"/>
          <p:cNvSpPr/>
          <p:nvPr/>
        </p:nvSpPr>
        <p:spPr>
          <a:xfrm>
            <a:off x="685800" y="1965960"/>
            <a:ext cx="82296" cy="1234440"/>
          </a:xfrm>
          <a:prstGeom prst="rect"/>
          <a:solidFill>
            <a:srgbClr val="147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1" name="TextBox 8"/>
          <p:cNvSpPr txBox="1"/>
          <p:nvPr/>
        </p:nvSpPr>
        <p:spPr>
          <a:xfrm>
            <a:off x="914400" y="2130552"/>
            <a:ext cx="2834639" cy="320040"/>
          </a:xfrm>
          <a:prstGeom prst="rect"/>
          <a:noFill/>
        </p:spPr>
        <p:txBody>
          <a:bodyPr wrap="square">
            <a:spAutoFit/>
          </a:bodyPr>
          <a:p>
            <a:pPr>
              <a:defRPr b="1" sz="1700">
                <a:solidFill>
                  <a:srgbClr val="147E46"/>
                </a:solidFill>
              </a:defRPr>
            </a:pPr>
            <a:r>
              <a:t>1  List Products</a:t>
            </a:r>
          </a:p>
        </p:txBody>
      </p:sp>
      <p:sp>
        <p:nvSpPr>
          <p:cNvPr id="1048622" name="TextBox 9"/>
          <p:cNvSpPr txBox="1"/>
          <p:nvPr/>
        </p:nvSpPr>
        <p:spPr>
          <a:xfrm>
            <a:off x="914400" y="2532888"/>
            <a:ext cx="2834639" cy="294641"/>
          </a:xfrm>
          <a:prstGeom prst="rect"/>
          <a:noFill/>
        </p:spPr>
        <p:txBody>
          <a:bodyPr wrap="square">
            <a:spAutoFit/>
          </a:bodyPr>
          <a:p>
            <a:pPr>
              <a:defRPr b="0" sz="1400">
                <a:solidFill>
                  <a:srgbClr val="202A26"/>
                </a:solidFill>
              </a:defRPr>
            </a:pPr>
            <a:r>
              <a:t>Images, prices and descriptions.</a:t>
            </a:r>
          </a:p>
        </p:txBody>
      </p:sp>
      <p:sp>
        <p:nvSpPr>
          <p:cNvPr id="1048623" name="Rounded Rectangle 10"/>
          <p:cNvSpPr/>
          <p:nvPr/>
        </p:nvSpPr>
        <p:spPr>
          <a:xfrm>
            <a:off x="685800" y="3429000"/>
            <a:ext cx="3246120" cy="1234440"/>
          </a:xfrm>
          <a:prstGeom prst="roundRect"/>
          <a:solidFill>
            <a:srgbClr val="FFFFFF"/>
          </a:solidFill>
          <a:ln>
            <a:solidFill>
              <a:srgbClr val="E1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4" name="Rectangle 11"/>
          <p:cNvSpPr/>
          <p:nvPr/>
        </p:nvSpPr>
        <p:spPr>
          <a:xfrm>
            <a:off x="685800" y="3429000"/>
            <a:ext cx="82296" cy="1234440"/>
          </a:xfrm>
          <a:prstGeom prst="rect"/>
          <a:solidFill>
            <a:srgbClr val="F4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5" name="TextBox 12"/>
          <p:cNvSpPr txBox="1"/>
          <p:nvPr/>
        </p:nvSpPr>
        <p:spPr>
          <a:xfrm>
            <a:off x="914400" y="3593592"/>
            <a:ext cx="2834639" cy="320040"/>
          </a:xfrm>
          <a:prstGeom prst="rect"/>
          <a:noFill/>
        </p:spPr>
        <p:txBody>
          <a:bodyPr wrap="square">
            <a:spAutoFit/>
          </a:bodyPr>
          <a:p>
            <a:pPr>
              <a:defRPr b="1" sz="1700">
                <a:solidFill>
                  <a:srgbClr val="F4912D"/>
                </a:solidFill>
              </a:defRPr>
            </a:pPr>
            <a:r>
              <a:t>2  Voice Upload</a:t>
            </a:r>
          </a:p>
        </p:txBody>
      </p:sp>
      <p:sp>
        <p:nvSpPr>
          <p:cNvPr id="1048626" name="TextBox 13"/>
          <p:cNvSpPr txBox="1"/>
          <p:nvPr/>
        </p:nvSpPr>
        <p:spPr>
          <a:xfrm>
            <a:off x="914400" y="3995928"/>
            <a:ext cx="2834639" cy="521208"/>
          </a:xfrm>
          <a:prstGeom prst="rect"/>
          <a:noFill/>
        </p:spPr>
        <p:txBody>
          <a:bodyPr wrap="square">
            <a:spAutoFit/>
          </a:bodyPr>
          <a:p>
            <a:pPr>
              <a:defRPr b="0" sz="1400">
                <a:solidFill>
                  <a:srgbClr val="202A26"/>
                </a:solidFill>
              </a:defRPr>
            </a:pPr>
            <a:r>
              <a:t>Microphone feature for easier product entry.</a:t>
            </a:r>
          </a:p>
        </p:txBody>
      </p:sp>
      <p:sp>
        <p:nvSpPr>
          <p:cNvPr id="1048627" name="Rounded Rectangle 14"/>
          <p:cNvSpPr/>
          <p:nvPr/>
        </p:nvSpPr>
        <p:spPr>
          <a:xfrm>
            <a:off x="685800" y="4892040"/>
            <a:ext cx="3246120" cy="914400"/>
          </a:xfrm>
          <a:prstGeom prst="roundRect"/>
          <a:solidFill>
            <a:srgbClr val="FFFFFF"/>
          </a:solidFill>
          <a:ln>
            <a:solidFill>
              <a:srgbClr val="E1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8" name="Rectangle 15"/>
          <p:cNvSpPr/>
          <p:nvPr/>
        </p:nvSpPr>
        <p:spPr>
          <a:xfrm>
            <a:off x="685800" y="4892040"/>
            <a:ext cx="82296" cy="914400"/>
          </a:xfrm>
          <a:prstGeom prst="rect"/>
          <a:solidFill>
            <a:srgbClr val="23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9" name="TextBox 16"/>
          <p:cNvSpPr txBox="1"/>
          <p:nvPr/>
        </p:nvSpPr>
        <p:spPr>
          <a:xfrm>
            <a:off x="914400" y="5056631"/>
            <a:ext cx="2834639" cy="320040"/>
          </a:xfrm>
          <a:prstGeom prst="rect"/>
          <a:noFill/>
        </p:spPr>
        <p:txBody>
          <a:bodyPr wrap="square">
            <a:spAutoFit/>
          </a:bodyPr>
          <a:p>
            <a:pPr>
              <a:defRPr b="1" sz="1700">
                <a:solidFill>
                  <a:srgbClr val="23978B"/>
                </a:solidFill>
              </a:defRPr>
            </a:pPr>
            <a:r>
              <a:t>3  Sell Directly</a:t>
            </a:r>
          </a:p>
        </p:txBody>
      </p:sp>
      <p:sp>
        <p:nvSpPr>
          <p:cNvPr id="1048630" name="TextBox 17"/>
          <p:cNvSpPr txBox="1"/>
          <p:nvPr/>
        </p:nvSpPr>
        <p:spPr>
          <a:xfrm>
            <a:off x="914400" y="5458968"/>
            <a:ext cx="2834639" cy="497839"/>
          </a:xfrm>
          <a:prstGeom prst="rect"/>
          <a:noFill/>
        </p:spPr>
        <p:txBody>
          <a:bodyPr wrap="square">
            <a:spAutoFit/>
          </a:bodyPr>
          <a:p>
            <a:pPr>
              <a:defRPr b="0" sz="1400">
                <a:solidFill>
                  <a:srgbClr val="202A26"/>
                </a:solidFill>
              </a:defRPr>
            </a:pPr>
            <a:r>
              <a:t>Customers browse and buy without middlemen.</a:t>
            </a:r>
          </a:p>
        </p:txBody>
      </p:sp>
      <p:pic>
        <p:nvPicPr>
          <p:cNvPr id="2097154" name="Picture 18" descr="image3.jpe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343400" y="1417320"/>
            <a:ext cx="3429000" cy="2240280"/>
          </a:xfrm>
          <a:prstGeom prst="rect"/>
        </p:spPr>
      </p:pic>
      <p:pic>
        <p:nvPicPr>
          <p:cNvPr id="2097155" name="Picture 19" descr="image9.jpe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001000" y="1417320"/>
            <a:ext cx="3429000" cy="2240280"/>
          </a:xfrm>
          <a:prstGeom prst="rect"/>
        </p:spPr>
      </p:pic>
      <p:pic>
        <p:nvPicPr>
          <p:cNvPr id="2097156" name="Picture 20" descr="image12.jpe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172200" y="3977639"/>
            <a:ext cx="3566160" cy="1965960"/>
          </a:xfrm>
          <a:prstGeom prst="rect"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/>
      </p:grpSpPr>
      <p:sp>
        <p:nvSpPr>
          <p:cNvPr id="1048631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2" name="TextBox 2"/>
          <p:cNvSpPr txBox="1"/>
          <p:nvPr/>
        </p:nvSpPr>
        <p:spPr>
          <a:xfrm>
            <a:off x="594360" y="384048"/>
            <a:ext cx="8961120" cy="535940"/>
          </a:xfrm>
          <a:prstGeom prst="rect"/>
          <a:noFill/>
        </p:spPr>
        <p:txBody>
          <a:bodyPr wrap="square">
            <a:spAutoFit/>
          </a:bodyPr>
          <a:p>
            <a:pPr>
              <a:defRPr b="1" sz="3000">
                <a:solidFill>
                  <a:srgbClr val="0B4E2F"/>
                </a:solidFill>
              </a:defRPr>
            </a:pPr>
            <a:r>
              <a:t>How It Works</a:t>
            </a:r>
          </a:p>
        </p:txBody>
      </p:sp>
      <p:sp>
        <p:nvSpPr>
          <p:cNvPr id="1048633" name="TextBox 3"/>
          <p:cNvSpPr txBox="1"/>
          <p:nvPr/>
        </p:nvSpPr>
        <p:spPr>
          <a:xfrm>
            <a:off x="10789920" y="438912"/>
            <a:ext cx="731520" cy="281940"/>
          </a:xfrm>
          <a:prstGeom prst="rect"/>
          <a:noFill/>
        </p:spPr>
        <p:txBody>
          <a:bodyPr wrap="square">
            <a:spAutoFit/>
          </a:bodyPr>
          <a:p>
            <a:pPr algn="r">
              <a:defRPr b="1" sz="1300">
                <a:solidFill>
                  <a:srgbClr val="147E46"/>
                </a:solidFill>
              </a:defRPr>
            </a:pPr>
            <a:r>
              <a:t>04</a:t>
            </a:r>
          </a:p>
        </p:txBody>
      </p:sp>
      <p:sp>
        <p:nvSpPr>
          <p:cNvPr id="1048634" name="Rectangle 4"/>
          <p:cNvSpPr/>
          <p:nvPr/>
        </p:nvSpPr>
        <p:spPr>
          <a:xfrm>
            <a:off x="594360" y="1024128"/>
            <a:ext cx="1005840" cy="73152"/>
          </a:xfrm>
          <a:prstGeom prst="rect"/>
          <a:solidFill>
            <a:srgbClr val="F4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5" name="Oval 5"/>
          <p:cNvSpPr/>
          <p:nvPr/>
        </p:nvSpPr>
        <p:spPr>
          <a:xfrm>
            <a:off x="1170432" y="1417320"/>
            <a:ext cx="777240" cy="777240"/>
          </a:xfrm>
          <a:prstGeom prst="ellipse"/>
          <a:solidFill>
            <a:srgbClr val="147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6" name="TextBox 6"/>
          <p:cNvSpPr txBox="1"/>
          <p:nvPr/>
        </p:nvSpPr>
        <p:spPr>
          <a:xfrm>
            <a:off x="1170432" y="1627632"/>
            <a:ext cx="777240" cy="332740"/>
          </a:xfrm>
          <a:prstGeom prst="rect"/>
          <a:noFill/>
        </p:spPr>
        <p:txBody>
          <a:bodyPr wrap="square">
            <a:spAutoFit/>
          </a:bodyPr>
          <a:p>
            <a:pPr algn="ctr">
              <a:defRPr b="1" sz="1600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48637" name="TextBox 7"/>
          <p:cNvSpPr txBox="1"/>
          <p:nvPr/>
        </p:nvSpPr>
        <p:spPr>
          <a:xfrm>
            <a:off x="502920" y="2423160"/>
            <a:ext cx="2103120" cy="365760"/>
          </a:xfrm>
          <a:prstGeom prst="rect"/>
          <a:noFill/>
        </p:spPr>
        <p:txBody>
          <a:bodyPr wrap="square">
            <a:spAutoFit/>
          </a:bodyPr>
          <a:p>
            <a:pPr algn="ctr">
              <a:defRPr b="1" sz="1800">
                <a:solidFill>
                  <a:srgbClr val="0B4E2F"/>
                </a:solidFill>
              </a:defRPr>
            </a:pPr>
            <a:r>
              <a:t>Farmer</a:t>
            </a:r>
          </a:p>
        </p:txBody>
      </p:sp>
      <p:sp>
        <p:nvSpPr>
          <p:cNvPr id="1048638" name="TextBox 8"/>
          <p:cNvSpPr txBox="1"/>
          <p:nvPr/>
        </p:nvSpPr>
        <p:spPr>
          <a:xfrm>
            <a:off x="502920" y="2880360"/>
            <a:ext cx="2103120" cy="294641"/>
          </a:xfrm>
          <a:prstGeom prst="rect"/>
          <a:noFill/>
        </p:spPr>
        <p:txBody>
          <a:bodyPr wrap="square">
            <a:spAutoFit/>
          </a:bodyPr>
          <a:p>
            <a:pPr algn="ctr">
              <a:defRPr b="0" sz="1400">
                <a:solidFill>
                  <a:srgbClr val="202A26"/>
                </a:solidFill>
              </a:defRPr>
            </a:pPr>
            <a:r>
              <a:t>Adds product</a:t>
            </a:r>
          </a:p>
        </p:txBody>
      </p:sp>
      <p:sp>
        <p:nvSpPr>
          <p:cNvPr id="1048639" name="TextBox 9"/>
          <p:cNvSpPr txBox="1"/>
          <p:nvPr/>
        </p:nvSpPr>
        <p:spPr>
          <a:xfrm>
            <a:off x="2578608" y="1737360"/>
            <a:ext cx="320040" cy="802639"/>
          </a:xfrm>
          <a:prstGeom prst="rect"/>
          <a:noFill/>
        </p:spPr>
        <p:txBody>
          <a:bodyPr wrap="square">
            <a:spAutoFit/>
          </a:bodyPr>
          <a:p>
            <a:pPr algn="ctr">
              <a:defRPr b="1" sz="2400">
                <a:solidFill>
                  <a:srgbClr val="147E46"/>
                </a:solidFill>
              </a:defRPr>
            </a:pPr>
            <a:r>
              <a:t>→</a:t>
            </a:r>
          </a:p>
        </p:txBody>
      </p:sp>
      <p:sp>
        <p:nvSpPr>
          <p:cNvPr id="1048640" name="Oval 10"/>
          <p:cNvSpPr/>
          <p:nvPr/>
        </p:nvSpPr>
        <p:spPr>
          <a:xfrm>
            <a:off x="3502151" y="1417320"/>
            <a:ext cx="777240" cy="777240"/>
          </a:xfrm>
          <a:prstGeom prst="ellipse"/>
          <a:solidFill>
            <a:srgbClr val="F4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1" name="TextBox 11"/>
          <p:cNvSpPr txBox="1"/>
          <p:nvPr/>
        </p:nvSpPr>
        <p:spPr>
          <a:xfrm>
            <a:off x="3502151" y="1627632"/>
            <a:ext cx="777240" cy="332740"/>
          </a:xfrm>
          <a:prstGeom prst="rect"/>
          <a:noFill/>
        </p:spPr>
        <p:txBody>
          <a:bodyPr wrap="square">
            <a:spAutoFit/>
          </a:bodyPr>
          <a:p>
            <a:pPr algn="ctr">
              <a:defRPr b="1" sz="1600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48642" name="TextBox 12"/>
          <p:cNvSpPr txBox="1"/>
          <p:nvPr/>
        </p:nvSpPr>
        <p:spPr>
          <a:xfrm>
            <a:off x="2834639" y="2423160"/>
            <a:ext cx="2103120" cy="365760"/>
          </a:xfrm>
          <a:prstGeom prst="rect"/>
          <a:noFill/>
        </p:spPr>
        <p:txBody>
          <a:bodyPr wrap="square">
            <a:spAutoFit/>
          </a:bodyPr>
          <a:p>
            <a:pPr algn="ctr">
              <a:defRPr b="1" sz="1800">
                <a:solidFill>
                  <a:srgbClr val="0B4E2F"/>
                </a:solidFill>
              </a:defRPr>
            </a:pPr>
            <a:r>
              <a:t>Browse</a:t>
            </a:r>
          </a:p>
        </p:txBody>
      </p:sp>
      <p:sp>
        <p:nvSpPr>
          <p:cNvPr id="1048643" name="TextBox 13"/>
          <p:cNvSpPr txBox="1"/>
          <p:nvPr/>
        </p:nvSpPr>
        <p:spPr>
          <a:xfrm>
            <a:off x="2834639" y="2880360"/>
            <a:ext cx="2103120" cy="294641"/>
          </a:xfrm>
          <a:prstGeom prst="rect"/>
          <a:noFill/>
        </p:spPr>
        <p:txBody>
          <a:bodyPr wrap="square">
            <a:spAutoFit/>
          </a:bodyPr>
          <a:p>
            <a:pPr algn="ctr">
              <a:defRPr b="0" sz="1400">
                <a:solidFill>
                  <a:srgbClr val="202A26"/>
                </a:solidFill>
              </a:defRPr>
            </a:pPr>
            <a:r>
              <a:t>Customer selects items</a:t>
            </a:r>
          </a:p>
        </p:txBody>
      </p:sp>
      <p:sp>
        <p:nvSpPr>
          <p:cNvPr id="1048644" name="TextBox 14"/>
          <p:cNvSpPr txBox="1"/>
          <p:nvPr/>
        </p:nvSpPr>
        <p:spPr>
          <a:xfrm>
            <a:off x="4910327" y="1737360"/>
            <a:ext cx="320040" cy="802639"/>
          </a:xfrm>
          <a:prstGeom prst="rect"/>
          <a:noFill/>
        </p:spPr>
        <p:txBody>
          <a:bodyPr wrap="square">
            <a:spAutoFit/>
          </a:bodyPr>
          <a:p>
            <a:pPr algn="ctr">
              <a:defRPr b="1" sz="2400">
                <a:solidFill>
                  <a:srgbClr val="147E46"/>
                </a:solidFill>
              </a:defRPr>
            </a:pPr>
            <a:r>
              <a:t>→</a:t>
            </a:r>
          </a:p>
        </p:txBody>
      </p:sp>
      <p:sp>
        <p:nvSpPr>
          <p:cNvPr id="1048645" name="Oval 15"/>
          <p:cNvSpPr/>
          <p:nvPr/>
        </p:nvSpPr>
        <p:spPr>
          <a:xfrm>
            <a:off x="5833871" y="1417320"/>
            <a:ext cx="777240" cy="777240"/>
          </a:xfrm>
          <a:prstGeom prst="ellipse"/>
          <a:solidFill>
            <a:srgbClr val="23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6" name="TextBox 16"/>
          <p:cNvSpPr txBox="1"/>
          <p:nvPr/>
        </p:nvSpPr>
        <p:spPr>
          <a:xfrm>
            <a:off x="5833871" y="1627632"/>
            <a:ext cx="777240" cy="332740"/>
          </a:xfrm>
          <a:prstGeom prst="rect"/>
          <a:noFill/>
        </p:spPr>
        <p:txBody>
          <a:bodyPr wrap="square">
            <a:spAutoFit/>
          </a:bodyPr>
          <a:p>
            <a:pPr algn="ctr">
              <a:defRPr b="1" sz="1600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048647" name="TextBox 17"/>
          <p:cNvSpPr txBox="1"/>
          <p:nvPr/>
        </p:nvSpPr>
        <p:spPr>
          <a:xfrm>
            <a:off x="5166359" y="2423160"/>
            <a:ext cx="2103120" cy="365760"/>
          </a:xfrm>
          <a:prstGeom prst="rect"/>
          <a:noFill/>
        </p:spPr>
        <p:txBody>
          <a:bodyPr wrap="square">
            <a:spAutoFit/>
          </a:bodyPr>
          <a:p>
            <a:pPr algn="ctr">
              <a:defRPr b="1" sz="1800">
                <a:solidFill>
                  <a:srgbClr val="0B4E2F"/>
                </a:solidFill>
              </a:defRPr>
            </a:pPr>
            <a:r>
              <a:t>Cart</a:t>
            </a:r>
          </a:p>
        </p:txBody>
      </p:sp>
      <p:sp>
        <p:nvSpPr>
          <p:cNvPr id="1048648" name="TextBox 18"/>
          <p:cNvSpPr txBox="1"/>
          <p:nvPr/>
        </p:nvSpPr>
        <p:spPr>
          <a:xfrm>
            <a:off x="5166359" y="2880360"/>
            <a:ext cx="2103120" cy="294641"/>
          </a:xfrm>
          <a:prstGeom prst="rect"/>
          <a:noFill/>
        </p:spPr>
        <p:txBody>
          <a:bodyPr wrap="square">
            <a:spAutoFit/>
          </a:bodyPr>
          <a:p>
            <a:pPr algn="ctr">
              <a:defRPr b="0" sz="1400">
                <a:solidFill>
                  <a:srgbClr val="202A26"/>
                </a:solidFill>
              </a:defRPr>
            </a:pPr>
            <a:r>
              <a:t>Adds products</a:t>
            </a:r>
          </a:p>
        </p:txBody>
      </p:sp>
      <p:sp>
        <p:nvSpPr>
          <p:cNvPr id="1048649" name="TextBox 19"/>
          <p:cNvSpPr txBox="1"/>
          <p:nvPr/>
        </p:nvSpPr>
        <p:spPr>
          <a:xfrm>
            <a:off x="7242048" y="1737360"/>
            <a:ext cx="320040" cy="802639"/>
          </a:xfrm>
          <a:prstGeom prst="rect"/>
          <a:noFill/>
        </p:spPr>
        <p:txBody>
          <a:bodyPr wrap="square">
            <a:spAutoFit/>
          </a:bodyPr>
          <a:p>
            <a:pPr algn="ctr">
              <a:defRPr b="1" sz="2400">
                <a:solidFill>
                  <a:srgbClr val="147E46"/>
                </a:solidFill>
              </a:defRPr>
            </a:pPr>
            <a:r>
              <a:t>→</a:t>
            </a:r>
          </a:p>
        </p:txBody>
      </p:sp>
      <p:sp>
        <p:nvSpPr>
          <p:cNvPr id="1048650" name="Oval 20"/>
          <p:cNvSpPr/>
          <p:nvPr/>
        </p:nvSpPr>
        <p:spPr>
          <a:xfrm>
            <a:off x="8165592" y="1417320"/>
            <a:ext cx="777240" cy="777240"/>
          </a:xfrm>
          <a:prstGeom prst="ellipse"/>
          <a:solidFill>
            <a:srgbClr val="664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1" name="TextBox 21"/>
          <p:cNvSpPr txBox="1"/>
          <p:nvPr/>
        </p:nvSpPr>
        <p:spPr>
          <a:xfrm>
            <a:off x="8165592" y="1627632"/>
            <a:ext cx="777240" cy="332740"/>
          </a:xfrm>
          <a:prstGeom prst="rect"/>
          <a:noFill/>
        </p:spPr>
        <p:txBody>
          <a:bodyPr wrap="square">
            <a:spAutoFit/>
          </a:bodyPr>
          <a:p>
            <a:pPr algn="ctr">
              <a:defRPr b="1" sz="1600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048652" name="TextBox 22"/>
          <p:cNvSpPr txBox="1"/>
          <p:nvPr/>
        </p:nvSpPr>
        <p:spPr>
          <a:xfrm>
            <a:off x="7498079" y="2423160"/>
            <a:ext cx="2103120" cy="365760"/>
          </a:xfrm>
          <a:prstGeom prst="rect"/>
          <a:noFill/>
        </p:spPr>
        <p:txBody>
          <a:bodyPr wrap="square">
            <a:spAutoFit/>
          </a:bodyPr>
          <a:p>
            <a:pPr algn="ctr">
              <a:defRPr b="1" sz="1800">
                <a:solidFill>
                  <a:srgbClr val="0B4E2F"/>
                </a:solidFill>
              </a:defRPr>
            </a:pPr>
            <a:r>
              <a:t>Order</a:t>
            </a:r>
          </a:p>
        </p:txBody>
      </p:sp>
      <p:sp>
        <p:nvSpPr>
          <p:cNvPr id="1048653" name="TextBox 23"/>
          <p:cNvSpPr txBox="1"/>
          <p:nvPr/>
        </p:nvSpPr>
        <p:spPr>
          <a:xfrm>
            <a:off x="7498079" y="2880360"/>
            <a:ext cx="2103120" cy="294641"/>
          </a:xfrm>
          <a:prstGeom prst="rect"/>
          <a:noFill/>
        </p:spPr>
        <p:txBody>
          <a:bodyPr wrap="square">
            <a:spAutoFit/>
          </a:bodyPr>
          <a:p>
            <a:pPr algn="ctr">
              <a:defRPr b="0" sz="1400">
                <a:solidFill>
                  <a:srgbClr val="202A26"/>
                </a:solidFill>
              </a:defRPr>
            </a:pPr>
            <a:r>
              <a:t>Confirms purchase</a:t>
            </a:r>
          </a:p>
        </p:txBody>
      </p:sp>
      <p:sp>
        <p:nvSpPr>
          <p:cNvPr id="1048654" name="TextBox 24"/>
          <p:cNvSpPr txBox="1"/>
          <p:nvPr/>
        </p:nvSpPr>
        <p:spPr>
          <a:xfrm>
            <a:off x="9573767" y="1737360"/>
            <a:ext cx="320040" cy="802639"/>
          </a:xfrm>
          <a:prstGeom prst="rect"/>
          <a:noFill/>
        </p:spPr>
        <p:txBody>
          <a:bodyPr wrap="square">
            <a:spAutoFit/>
          </a:bodyPr>
          <a:p>
            <a:pPr algn="ctr">
              <a:defRPr b="1" sz="2400">
                <a:solidFill>
                  <a:srgbClr val="147E46"/>
                </a:solidFill>
              </a:defRPr>
            </a:pPr>
            <a:r>
              <a:t>→</a:t>
            </a:r>
          </a:p>
        </p:txBody>
      </p:sp>
      <p:sp>
        <p:nvSpPr>
          <p:cNvPr id="1048655" name="Oval 25"/>
          <p:cNvSpPr/>
          <p:nvPr/>
        </p:nvSpPr>
        <p:spPr>
          <a:xfrm>
            <a:off x="10497312" y="1417320"/>
            <a:ext cx="777240" cy="777240"/>
          </a:xfrm>
          <a:prstGeom prst="ellipse"/>
          <a:solidFill>
            <a:srgbClr val="D64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6" name="TextBox 26"/>
          <p:cNvSpPr txBox="1"/>
          <p:nvPr/>
        </p:nvSpPr>
        <p:spPr>
          <a:xfrm>
            <a:off x="10497312" y="1627632"/>
            <a:ext cx="777240" cy="332740"/>
          </a:xfrm>
          <a:prstGeom prst="rect"/>
          <a:noFill/>
        </p:spPr>
        <p:txBody>
          <a:bodyPr wrap="square">
            <a:spAutoFit/>
          </a:bodyPr>
          <a:p>
            <a:pPr algn="ctr">
              <a:defRPr b="1" sz="1600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048657" name="TextBox 27"/>
          <p:cNvSpPr txBox="1"/>
          <p:nvPr/>
        </p:nvSpPr>
        <p:spPr>
          <a:xfrm>
            <a:off x="9829800" y="2423160"/>
            <a:ext cx="2103120" cy="365760"/>
          </a:xfrm>
          <a:prstGeom prst="rect"/>
          <a:noFill/>
        </p:spPr>
        <p:txBody>
          <a:bodyPr wrap="square">
            <a:spAutoFit/>
          </a:bodyPr>
          <a:p>
            <a:pPr algn="ctr">
              <a:defRPr b="1" sz="1800">
                <a:solidFill>
                  <a:srgbClr val="0B4E2F"/>
                </a:solidFill>
              </a:defRPr>
            </a:pPr>
            <a:r>
              <a:t>Pay</a:t>
            </a:r>
          </a:p>
        </p:txBody>
      </p:sp>
      <p:sp>
        <p:nvSpPr>
          <p:cNvPr id="1048658" name="TextBox 28"/>
          <p:cNvSpPr txBox="1"/>
          <p:nvPr/>
        </p:nvSpPr>
        <p:spPr>
          <a:xfrm>
            <a:off x="9829800" y="2880360"/>
            <a:ext cx="2103120" cy="294641"/>
          </a:xfrm>
          <a:prstGeom prst="rect"/>
          <a:noFill/>
        </p:spPr>
        <p:txBody>
          <a:bodyPr wrap="square">
            <a:spAutoFit/>
          </a:bodyPr>
          <a:p>
            <a:pPr algn="ctr">
              <a:defRPr b="0" sz="1400">
                <a:solidFill>
                  <a:srgbClr val="202A26"/>
                </a:solidFill>
              </a:defRPr>
            </a:pPr>
            <a:r>
              <a:t>COD / UPI</a:t>
            </a:r>
          </a:p>
        </p:txBody>
      </p:sp>
      <p:pic>
        <p:nvPicPr>
          <p:cNvPr id="2097157" name="Picture 29" descr="image8.jpe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429000" y="4160520"/>
            <a:ext cx="5303520" cy="1600200"/>
          </a:xfrm>
          <a:prstGeom prst="rect"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/>
      </p:grpSpPr>
      <p:sp>
        <p:nvSpPr>
          <p:cNvPr id="1048659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0" name="TextBox 2"/>
          <p:cNvSpPr txBox="1"/>
          <p:nvPr/>
        </p:nvSpPr>
        <p:spPr>
          <a:xfrm>
            <a:off x="594360" y="384048"/>
            <a:ext cx="8961120" cy="535940"/>
          </a:xfrm>
          <a:prstGeom prst="rect"/>
          <a:noFill/>
        </p:spPr>
        <p:txBody>
          <a:bodyPr wrap="square">
            <a:spAutoFit/>
          </a:bodyPr>
          <a:p>
            <a:pPr>
              <a:defRPr b="1" sz="3000">
                <a:solidFill>
                  <a:srgbClr val="0B4E2F"/>
                </a:solidFill>
              </a:defRPr>
            </a:pPr>
            <a:r>
              <a:t>Technologies</a:t>
            </a:r>
          </a:p>
        </p:txBody>
      </p:sp>
      <p:sp>
        <p:nvSpPr>
          <p:cNvPr id="1048661" name="TextBox 3"/>
          <p:cNvSpPr txBox="1"/>
          <p:nvPr/>
        </p:nvSpPr>
        <p:spPr>
          <a:xfrm>
            <a:off x="10789920" y="438912"/>
            <a:ext cx="731520" cy="281940"/>
          </a:xfrm>
          <a:prstGeom prst="rect"/>
          <a:noFill/>
        </p:spPr>
        <p:txBody>
          <a:bodyPr wrap="square">
            <a:spAutoFit/>
          </a:bodyPr>
          <a:p>
            <a:pPr algn="r">
              <a:defRPr b="1" sz="1300">
                <a:solidFill>
                  <a:srgbClr val="147E46"/>
                </a:solidFill>
              </a:defRPr>
            </a:pPr>
            <a:r>
              <a:t>05</a:t>
            </a:r>
          </a:p>
        </p:txBody>
      </p:sp>
      <p:sp>
        <p:nvSpPr>
          <p:cNvPr id="1048662" name="Rectangle 4"/>
          <p:cNvSpPr/>
          <p:nvPr/>
        </p:nvSpPr>
        <p:spPr>
          <a:xfrm>
            <a:off x="594360" y="1024128"/>
            <a:ext cx="1005840" cy="73152"/>
          </a:xfrm>
          <a:prstGeom prst="rect"/>
          <a:solidFill>
            <a:srgbClr val="F4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3" name="Rounded Rectangle 5"/>
          <p:cNvSpPr/>
          <p:nvPr/>
        </p:nvSpPr>
        <p:spPr>
          <a:xfrm>
            <a:off x="777240" y="1463040"/>
            <a:ext cx="3291840" cy="1508760"/>
          </a:xfrm>
          <a:prstGeom prst="roundRect"/>
          <a:solidFill>
            <a:srgbClr val="FFFFFF"/>
          </a:solidFill>
          <a:ln>
            <a:solidFill>
              <a:srgbClr val="E1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4" name="Rectangle 6"/>
          <p:cNvSpPr/>
          <p:nvPr/>
        </p:nvSpPr>
        <p:spPr>
          <a:xfrm>
            <a:off x="777240" y="1463040"/>
            <a:ext cx="82296" cy="1508760"/>
          </a:xfrm>
          <a:prstGeom prst="rect"/>
          <a:solidFill>
            <a:srgbClr val="664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5" name="TextBox 7"/>
          <p:cNvSpPr txBox="1"/>
          <p:nvPr/>
        </p:nvSpPr>
        <p:spPr>
          <a:xfrm>
            <a:off x="1005840" y="1627632"/>
            <a:ext cx="2880360" cy="345440"/>
          </a:xfrm>
          <a:prstGeom prst="rect"/>
          <a:noFill/>
        </p:spPr>
        <p:txBody>
          <a:bodyPr wrap="square">
            <a:spAutoFit/>
          </a:bodyPr>
          <a:p>
            <a:pPr>
              <a:defRPr b="1" sz="1700">
                <a:solidFill>
                  <a:srgbClr val="664DA1"/>
                </a:solidFill>
              </a:defRPr>
            </a:pPr>
            <a:r>
              <a:t>Replit</a:t>
            </a:r>
          </a:p>
        </p:txBody>
      </p:sp>
      <p:sp>
        <p:nvSpPr>
          <p:cNvPr id="1048666" name="TextBox 8"/>
          <p:cNvSpPr txBox="1"/>
          <p:nvPr/>
        </p:nvSpPr>
        <p:spPr>
          <a:xfrm>
            <a:off x="1005840" y="2029968"/>
            <a:ext cx="2880360" cy="497840"/>
          </a:xfrm>
          <a:prstGeom prst="rect"/>
          <a:noFill/>
        </p:spPr>
        <p:txBody>
          <a:bodyPr wrap="square">
            <a:spAutoFit/>
          </a:bodyPr>
          <a:p>
            <a:pPr>
              <a:defRPr b="0" sz="1400">
                <a:solidFill>
                  <a:srgbClr val="202A26"/>
                </a:solidFill>
              </a:defRPr>
            </a:pPr>
            <a:r>
              <a:t>Prototype developed as a simple website using Replit.</a:t>
            </a:r>
          </a:p>
        </p:txBody>
      </p:sp>
      <p:sp>
        <p:nvSpPr>
          <p:cNvPr id="1048667" name="Rounded Rectangle 9"/>
          <p:cNvSpPr/>
          <p:nvPr/>
        </p:nvSpPr>
        <p:spPr>
          <a:xfrm>
            <a:off x="777240" y="3246120"/>
            <a:ext cx="3291840" cy="1508760"/>
          </a:xfrm>
          <a:prstGeom prst="roundRect"/>
          <a:solidFill>
            <a:srgbClr val="FFFFFF"/>
          </a:solidFill>
          <a:ln>
            <a:solidFill>
              <a:srgbClr val="E1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8" name="Rectangle 10"/>
          <p:cNvSpPr/>
          <p:nvPr/>
        </p:nvSpPr>
        <p:spPr>
          <a:xfrm>
            <a:off x="777240" y="3246120"/>
            <a:ext cx="82296" cy="1508760"/>
          </a:xfrm>
          <a:prstGeom prst="rect"/>
          <a:solidFill>
            <a:srgbClr val="23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9" name="TextBox 11"/>
          <p:cNvSpPr txBox="1"/>
          <p:nvPr/>
        </p:nvSpPr>
        <p:spPr>
          <a:xfrm>
            <a:off x="1005840" y="3410712"/>
            <a:ext cx="2880360" cy="320040"/>
          </a:xfrm>
          <a:prstGeom prst="rect"/>
          <a:noFill/>
        </p:spPr>
        <p:txBody>
          <a:bodyPr wrap="square">
            <a:spAutoFit/>
          </a:bodyPr>
          <a:p>
            <a:pPr>
              <a:defRPr b="1" sz="1700">
                <a:solidFill>
                  <a:srgbClr val="23978B"/>
                </a:solidFill>
              </a:defRPr>
            </a:pPr>
            <a:r>
              <a:t>Mobile Web UI</a:t>
            </a:r>
          </a:p>
        </p:txBody>
      </p:sp>
      <p:sp>
        <p:nvSpPr>
          <p:cNvPr id="1048670" name="TextBox 12"/>
          <p:cNvSpPr txBox="1"/>
          <p:nvPr/>
        </p:nvSpPr>
        <p:spPr>
          <a:xfrm>
            <a:off x="1005840" y="3813048"/>
            <a:ext cx="2880360" cy="497840"/>
          </a:xfrm>
          <a:prstGeom prst="rect"/>
          <a:noFill/>
        </p:spPr>
        <p:txBody>
          <a:bodyPr wrap="square">
            <a:spAutoFit/>
          </a:bodyPr>
          <a:p>
            <a:pPr>
              <a:defRPr b="0" sz="1400">
                <a:solidFill>
                  <a:srgbClr val="202A26"/>
                </a:solidFill>
              </a:defRPr>
            </a:pPr>
            <a:r>
              <a:t>Simple, visual and mobile-friendly interface.</a:t>
            </a:r>
          </a:p>
        </p:txBody>
      </p:sp>
      <p:sp>
        <p:nvSpPr>
          <p:cNvPr id="1048671" name="Rounded Rectangle 13"/>
          <p:cNvSpPr/>
          <p:nvPr/>
        </p:nvSpPr>
        <p:spPr>
          <a:xfrm>
            <a:off x="4434840" y="1463040"/>
            <a:ext cx="3291840" cy="1508760"/>
          </a:xfrm>
          <a:prstGeom prst="roundRect"/>
          <a:solidFill>
            <a:srgbClr val="FFFFFF"/>
          </a:solidFill>
          <a:ln>
            <a:solidFill>
              <a:srgbClr val="E1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2" name="Rectangle 14"/>
          <p:cNvSpPr/>
          <p:nvPr/>
        </p:nvSpPr>
        <p:spPr>
          <a:xfrm>
            <a:off x="4434840" y="1463040"/>
            <a:ext cx="82296" cy="1508760"/>
          </a:xfrm>
          <a:prstGeom prst="rect"/>
          <a:solidFill>
            <a:srgbClr val="F4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3" name="TextBox 15"/>
          <p:cNvSpPr txBox="1"/>
          <p:nvPr/>
        </p:nvSpPr>
        <p:spPr>
          <a:xfrm>
            <a:off x="4663440" y="1627632"/>
            <a:ext cx="2880360" cy="345440"/>
          </a:xfrm>
          <a:prstGeom prst="rect"/>
          <a:noFill/>
        </p:spPr>
        <p:txBody>
          <a:bodyPr wrap="square">
            <a:spAutoFit/>
          </a:bodyPr>
          <a:p>
            <a:pPr>
              <a:defRPr b="1" sz="1700">
                <a:solidFill>
                  <a:srgbClr val="F4912D"/>
                </a:solidFill>
              </a:defRPr>
            </a:pPr>
            <a:r>
              <a:t>Voice / Microphone</a:t>
            </a:r>
          </a:p>
        </p:txBody>
      </p:sp>
      <p:sp>
        <p:nvSpPr>
          <p:cNvPr id="1048674" name="TextBox 16"/>
          <p:cNvSpPr txBox="1"/>
          <p:nvPr/>
        </p:nvSpPr>
        <p:spPr>
          <a:xfrm>
            <a:off x="4663440" y="2029968"/>
            <a:ext cx="2880360" cy="497840"/>
          </a:xfrm>
          <a:prstGeom prst="rect"/>
          <a:noFill/>
        </p:spPr>
        <p:txBody>
          <a:bodyPr wrap="square">
            <a:spAutoFit/>
          </a:bodyPr>
          <a:p>
            <a:pPr>
              <a:defRPr b="0" sz="1400">
                <a:solidFill>
                  <a:srgbClr val="202A26"/>
                </a:solidFill>
              </a:defRPr>
            </a:pPr>
            <a:r>
              <a:t>Voice-based product upload for easier entry.</a:t>
            </a:r>
          </a:p>
        </p:txBody>
      </p:sp>
      <p:sp>
        <p:nvSpPr>
          <p:cNvPr id="1048675" name="Rounded Rectangle 17"/>
          <p:cNvSpPr/>
          <p:nvPr/>
        </p:nvSpPr>
        <p:spPr>
          <a:xfrm>
            <a:off x="4434840" y="3246120"/>
            <a:ext cx="3291840" cy="1508760"/>
          </a:xfrm>
          <a:prstGeom prst="roundRect"/>
          <a:solidFill>
            <a:srgbClr val="FFFFFF"/>
          </a:solidFill>
          <a:ln>
            <a:solidFill>
              <a:srgbClr val="E1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6" name="Rectangle 18"/>
          <p:cNvSpPr/>
          <p:nvPr/>
        </p:nvSpPr>
        <p:spPr>
          <a:xfrm>
            <a:off x="4434840" y="3246120"/>
            <a:ext cx="82296" cy="1508760"/>
          </a:xfrm>
          <a:prstGeom prst="rect"/>
          <a:solidFill>
            <a:srgbClr val="147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7" name="TextBox 19"/>
          <p:cNvSpPr txBox="1"/>
          <p:nvPr/>
        </p:nvSpPr>
        <p:spPr>
          <a:xfrm>
            <a:off x="4663440" y="3410712"/>
            <a:ext cx="2880360" cy="320040"/>
          </a:xfrm>
          <a:prstGeom prst="rect"/>
          <a:noFill/>
        </p:spPr>
        <p:txBody>
          <a:bodyPr wrap="square">
            <a:spAutoFit/>
          </a:bodyPr>
          <a:p>
            <a:pPr>
              <a:defRPr b="1" sz="1700">
                <a:solidFill>
                  <a:srgbClr val="147E46"/>
                </a:solidFill>
              </a:defRPr>
            </a:pPr>
            <a:r>
              <a:t>Payments</a:t>
            </a:r>
          </a:p>
        </p:txBody>
      </p:sp>
      <p:sp>
        <p:nvSpPr>
          <p:cNvPr id="1048678" name="TextBox 20"/>
          <p:cNvSpPr txBox="1"/>
          <p:nvPr/>
        </p:nvSpPr>
        <p:spPr>
          <a:xfrm>
            <a:off x="4663440" y="3813048"/>
            <a:ext cx="2880360" cy="294640"/>
          </a:xfrm>
          <a:prstGeom prst="rect"/>
          <a:noFill/>
        </p:spPr>
        <p:txBody>
          <a:bodyPr wrap="square">
            <a:spAutoFit/>
          </a:bodyPr>
          <a:p>
            <a:pPr>
              <a:defRPr b="0" sz="1400">
                <a:solidFill>
                  <a:srgbClr val="202A26"/>
                </a:solidFill>
              </a:defRPr>
            </a:pPr>
            <a:r>
              <a:t>Cash on Delivery (COD) and UPI.</a:t>
            </a:r>
          </a:p>
        </p:txBody>
      </p:sp>
      <p:pic>
        <p:nvPicPr>
          <p:cNvPr id="2097158" name="Picture 21" descr="image10.jpe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092440" y="1508760"/>
            <a:ext cx="3246120" cy="3246120"/>
          </a:xfrm>
          <a:prstGeom prst="rect"/>
        </p:spPr>
      </p:pic>
      <p:sp>
        <p:nvSpPr>
          <p:cNvPr id="1048679" name="TextBox 22"/>
          <p:cNvSpPr txBox="1"/>
          <p:nvPr/>
        </p:nvSpPr>
        <p:spPr>
          <a:xfrm>
            <a:off x="8138160" y="4983480"/>
            <a:ext cx="3154680" cy="599439"/>
          </a:xfrm>
          <a:prstGeom prst="rect"/>
          <a:noFill/>
        </p:spPr>
        <p:txBody>
          <a:bodyPr wrap="square">
            <a:spAutoFit/>
          </a:bodyPr>
          <a:p>
            <a:pPr algn="ctr">
              <a:defRPr b="1" sz="1700">
                <a:solidFill>
                  <a:srgbClr val="0B4E2F"/>
                </a:solidFill>
              </a:defRPr>
            </a:pPr>
            <a:r>
              <a:t>Technology used in the prototype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/>
      </p:grpSpPr>
      <p:sp>
        <p:nvSpPr>
          <p:cNvPr id="1048680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1" name="TextBox 2"/>
          <p:cNvSpPr txBox="1"/>
          <p:nvPr/>
        </p:nvSpPr>
        <p:spPr>
          <a:xfrm>
            <a:off x="594360" y="384048"/>
            <a:ext cx="8961120" cy="535940"/>
          </a:xfrm>
          <a:prstGeom prst="rect"/>
          <a:noFill/>
        </p:spPr>
        <p:txBody>
          <a:bodyPr wrap="square">
            <a:spAutoFit/>
          </a:bodyPr>
          <a:p>
            <a:pPr>
              <a:defRPr b="1" sz="3000">
                <a:solidFill>
                  <a:srgbClr val="0B4E2F"/>
                </a:solidFill>
              </a:defRPr>
            </a:pPr>
            <a:r>
              <a:t>Benefits</a:t>
            </a:r>
          </a:p>
        </p:txBody>
      </p:sp>
      <p:sp>
        <p:nvSpPr>
          <p:cNvPr id="1048682" name="TextBox 3"/>
          <p:cNvSpPr txBox="1"/>
          <p:nvPr/>
        </p:nvSpPr>
        <p:spPr>
          <a:xfrm>
            <a:off x="10789920" y="438912"/>
            <a:ext cx="731520" cy="281940"/>
          </a:xfrm>
          <a:prstGeom prst="rect"/>
          <a:noFill/>
        </p:spPr>
        <p:txBody>
          <a:bodyPr wrap="square">
            <a:spAutoFit/>
          </a:bodyPr>
          <a:p>
            <a:pPr algn="r">
              <a:defRPr b="1" sz="1300">
                <a:solidFill>
                  <a:srgbClr val="147E46"/>
                </a:solidFill>
              </a:defRPr>
            </a:pPr>
            <a:r>
              <a:t>06</a:t>
            </a:r>
          </a:p>
        </p:txBody>
      </p:sp>
      <p:sp>
        <p:nvSpPr>
          <p:cNvPr id="1048683" name="Rectangle 4"/>
          <p:cNvSpPr/>
          <p:nvPr/>
        </p:nvSpPr>
        <p:spPr>
          <a:xfrm>
            <a:off x="594360" y="1024128"/>
            <a:ext cx="1005840" cy="73152"/>
          </a:xfrm>
          <a:prstGeom prst="rect"/>
          <a:solidFill>
            <a:srgbClr val="F4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pic>
        <p:nvPicPr>
          <p:cNvPr id="2097159" name="Picture 5" descr="image5.jpe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40080" y="1417320"/>
            <a:ext cx="3794760" cy="4526280"/>
          </a:xfrm>
          <a:prstGeom prst="rect"/>
        </p:spPr>
      </p:pic>
      <p:sp>
        <p:nvSpPr>
          <p:cNvPr id="1048684" name="Rounded Rectangle 6"/>
          <p:cNvSpPr/>
          <p:nvPr/>
        </p:nvSpPr>
        <p:spPr>
          <a:xfrm>
            <a:off x="4800600" y="1508760"/>
            <a:ext cx="3063240" cy="1600200"/>
          </a:xfrm>
          <a:prstGeom prst="roundRect"/>
          <a:solidFill>
            <a:srgbClr val="FFFFFF"/>
          </a:solidFill>
          <a:ln>
            <a:solidFill>
              <a:srgbClr val="E1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5" name="Rectangle 7"/>
          <p:cNvSpPr/>
          <p:nvPr/>
        </p:nvSpPr>
        <p:spPr>
          <a:xfrm>
            <a:off x="4800600" y="1508760"/>
            <a:ext cx="82296" cy="1600200"/>
          </a:xfrm>
          <a:prstGeom prst="rect"/>
          <a:solidFill>
            <a:srgbClr val="147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6" name="TextBox 8"/>
          <p:cNvSpPr txBox="1"/>
          <p:nvPr/>
        </p:nvSpPr>
        <p:spPr>
          <a:xfrm>
            <a:off x="5029200" y="1673351"/>
            <a:ext cx="2651760" cy="345440"/>
          </a:xfrm>
          <a:prstGeom prst="rect"/>
          <a:noFill/>
        </p:spPr>
        <p:txBody>
          <a:bodyPr wrap="square">
            <a:spAutoFit/>
          </a:bodyPr>
          <a:p>
            <a:pPr>
              <a:defRPr b="1" sz="1700">
                <a:solidFill>
                  <a:srgbClr val="147E46"/>
                </a:solidFill>
              </a:defRPr>
            </a:pPr>
            <a:r>
              <a:t>For Farmers</a:t>
            </a:r>
          </a:p>
        </p:txBody>
      </p:sp>
      <p:sp>
        <p:nvSpPr>
          <p:cNvPr id="1048687" name="TextBox 9"/>
          <p:cNvSpPr txBox="1"/>
          <p:nvPr/>
        </p:nvSpPr>
        <p:spPr>
          <a:xfrm>
            <a:off x="5029200" y="2075688"/>
            <a:ext cx="2651760" cy="294640"/>
          </a:xfrm>
          <a:prstGeom prst="rect"/>
          <a:noFill/>
        </p:spPr>
        <p:txBody>
          <a:bodyPr wrap="square">
            <a:spAutoFit/>
          </a:bodyPr>
          <a:p>
            <a:pPr>
              <a:defRPr b="0" sz="1400">
                <a:solidFill>
                  <a:srgbClr val="202A26"/>
                </a:solidFill>
              </a:defRPr>
            </a:pPr>
            <a:r>
              <a:t>Direct access to customers</a:t>
            </a:r>
          </a:p>
        </p:txBody>
      </p:sp>
      <p:sp>
        <p:nvSpPr>
          <p:cNvPr id="1048688" name="Rounded Rectangle 10"/>
          <p:cNvSpPr/>
          <p:nvPr/>
        </p:nvSpPr>
        <p:spPr>
          <a:xfrm>
            <a:off x="8138160" y="1508760"/>
            <a:ext cx="3063240" cy="1600200"/>
          </a:xfrm>
          <a:prstGeom prst="roundRect"/>
          <a:solidFill>
            <a:srgbClr val="FFFFFF"/>
          </a:solidFill>
          <a:ln>
            <a:solidFill>
              <a:srgbClr val="E1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9" name="Rectangle 11"/>
          <p:cNvSpPr/>
          <p:nvPr/>
        </p:nvSpPr>
        <p:spPr>
          <a:xfrm>
            <a:off x="8138160" y="1508760"/>
            <a:ext cx="82296" cy="1600200"/>
          </a:xfrm>
          <a:prstGeom prst="rect"/>
          <a:solidFill>
            <a:srgbClr val="F4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0" name="TextBox 12"/>
          <p:cNvSpPr txBox="1"/>
          <p:nvPr/>
        </p:nvSpPr>
        <p:spPr>
          <a:xfrm>
            <a:off x="8366760" y="1673351"/>
            <a:ext cx="2651760" cy="345440"/>
          </a:xfrm>
          <a:prstGeom prst="rect"/>
          <a:noFill/>
        </p:spPr>
        <p:txBody>
          <a:bodyPr wrap="square">
            <a:spAutoFit/>
          </a:bodyPr>
          <a:p>
            <a:pPr>
              <a:defRPr b="1" sz="1700">
                <a:solidFill>
                  <a:srgbClr val="F4912D"/>
                </a:solidFill>
              </a:defRPr>
            </a:pPr>
            <a:r>
              <a:t>For Customers</a:t>
            </a:r>
          </a:p>
        </p:txBody>
      </p:sp>
      <p:sp>
        <p:nvSpPr>
          <p:cNvPr id="1048691" name="TextBox 13"/>
          <p:cNvSpPr txBox="1"/>
          <p:nvPr/>
        </p:nvSpPr>
        <p:spPr>
          <a:xfrm>
            <a:off x="8366760" y="2075688"/>
            <a:ext cx="2651760" cy="294640"/>
          </a:xfrm>
          <a:prstGeom prst="rect"/>
          <a:noFill/>
        </p:spPr>
        <p:txBody>
          <a:bodyPr wrap="square">
            <a:spAutoFit/>
          </a:bodyPr>
          <a:p>
            <a:pPr>
              <a:defRPr b="0" sz="1400">
                <a:solidFill>
                  <a:srgbClr val="202A26"/>
                </a:solidFill>
              </a:defRPr>
            </a:pPr>
            <a:r>
              <a:t>Easy browsing and ordering</a:t>
            </a:r>
          </a:p>
        </p:txBody>
      </p:sp>
      <p:sp>
        <p:nvSpPr>
          <p:cNvPr id="1048692" name="Rounded Rectangle 14"/>
          <p:cNvSpPr/>
          <p:nvPr/>
        </p:nvSpPr>
        <p:spPr>
          <a:xfrm>
            <a:off x="4800600" y="3566160"/>
            <a:ext cx="3063240" cy="1600200"/>
          </a:xfrm>
          <a:prstGeom prst="roundRect"/>
          <a:solidFill>
            <a:srgbClr val="FFFFFF"/>
          </a:solidFill>
          <a:ln>
            <a:solidFill>
              <a:srgbClr val="E1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3" name="Rectangle 15"/>
          <p:cNvSpPr/>
          <p:nvPr/>
        </p:nvSpPr>
        <p:spPr>
          <a:xfrm>
            <a:off x="4800600" y="3566160"/>
            <a:ext cx="82296" cy="1600200"/>
          </a:xfrm>
          <a:prstGeom prst="rect"/>
          <a:solidFill>
            <a:srgbClr val="23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4" name="TextBox 16"/>
          <p:cNvSpPr txBox="1"/>
          <p:nvPr/>
        </p:nvSpPr>
        <p:spPr>
          <a:xfrm>
            <a:off x="5029200" y="3730752"/>
            <a:ext cx="2651760" cy="345440"/>
          </a:xfrm>
          <a:prstGeom prst="rect"/>
          <a:noFill/>
        </p:spPr>
        <p:txBody>
          <a:bodyPr wrap="square">
            <a:spAutoFit/>
          </a:bodyPr>
          <a:p>
            <a:pPr>
              <a:defRPr b="1" sz="1700">
                <a:solidFill>
                  <a:srgbClr val="23978B"/>
                </a:solidFill>
              </a:defRPr>
            </a:pPr>
            <a:r>
              <a:t>Easy Access</a:t>
            </a:r>
          </a:p>
        </p:txBody>
      </p:sp>
      <p:sp>
        <p:nvSpPr>
          <p:cNvPr id="1048695" name="TextBox 17"/>
          <p:cNvSpPr txBox="1"/>
          <p:nvPr/>
        </p:nvSpPr>
        <p:spPr>
          <a:xfrm>
            <a:off x="5029200" y="4133087"/>
            <a:ext cx="2651760" cy="294640"/>
          </a:xfrm>
          <a:prstGeom prst="rect"/>
          <a:noFill/>
        </p:spPr>
        <p:txBody>
          <a:bodyPr wrap="square">
            <a:spAutoFit/>
          </a:bodyPr>
          <a:p>
            <a:pPr>
              <a:defRPr b="0" sz="1400">
                <a:solidFill>
                  <a:srgbClr val="202A26"/>
                </a:solidFill>
              </a:defRPr>
            </a:pPr>
            <a:r>
              <a:t>Mobile-friendly and simple UI</a:t>
            </a:r>
          </a:p>
        </p:txBody>
      </p:sp>
      <p:sp>
        <p:nvSpPr>
          <p:cNvPr id="1048696" name="Rounded Rectangle 18"/>
          <p:cNvSpPr/>
          <p:nvPr/>
        </p:nvSpPr>
        <p:spPr>
          <a:xfrm>
            <a:off x="8138160" y="3566160"/>
            <a:ext cx="3063240" cy="1600200"/>
          </a:xfrm>
          <a:prstGeom prst="roundRect"/>
          <a:solidFill>
            <a:srgbClr val="FFFFFF"/>
          </a:solidFill>
          <a:ln>
            <a:solidFill>
              <a:srgbClr val="E1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7" name="Rectangle 19"/>
          <p:cNvSpPr/>
          <p:nvPr/>
        </p:nvSpPr>
        <p:spPr>
          <a:xfrm>
            <a:off x="8138160" y="3566160"/>
            <a:ext cx="82296" cy="1600200"/>
          </a:xfrm>
          <a:prstGeom prst="rect"/>
          <a:solidFill>
            <a:srgbClr val="664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8" name="TextBox 20"/>
          <p:cNvSpPr txBox="1"/>
          <p:nvPr/>
        </p:nvSpPr>
        <p:spPr>
          <a:xfrm>
            <a:off x="8366760" y="3730752"/>
            <a:ext cx="2651760" cy="345440"/>
          </a:xfrm>
          <a:prstGeom prst="rect"/>
          <a:noFill/>
        </p:spPr>
        <p:txBody>
          <a:bodyPr wrap="square">
            <a:spAutoFit/>
          </a:bodyPr>
          <a:p>
            <a:pPr>
              <a:defRPr b="1" sz="1700">
                <a:solidFill>
                  <a:srgbClr val="664DA1"/>
                </a:solidFill>
              </a:defRPr>
            </a:pPr>
            <a:r>
              <a:t>Convenient Selling</a:t>
            </a:r>
          </a:p>
        </p:txBody>
      </p:sp>
      <p:sp>
        <p:nvSpPr>
          <p:cNvPr id="1048699" name="TextBox 21"/>
          <p:cNvSpPr txBox="1"/>
          <p:nvPr/>
        </p:nvSpPr>
        <p:spPr>
          <a:xfrm>
            <a:off x="8366760" y="4133087"/>
            <a:ext cx="2651760" cy="497840"/>
          </a:xfrm>
          <a:prstGeom prst="rect"/>
          <a:noFill/>
        </p:spPr>
        <p:txBody>
          <a:bodyPr wrap="square">
            <a:spAutoFit/>
          </a:bodyPr>
          <a:p>
            <a:pPr>
              <a:defRPr b="0" sz="1400">
                <a:solidFill>
                  <a:srgbClr val="202A26"/>
                </a:solidFill>
              </a:defRPr>
            </a:pPr>
            <a:r>
              <a:t>Voice upload + cart + payments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/>
      </p:grpSpPr>
      <p:sp>
        <p:nvSpPr>
          <p:cNvPr id="1048700" name="Rectangl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0B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1" name="TextBox 2"/>
          <p:cNvSpPr txBox="1"/>
          <p:nvPr/>
        </p:nvSpPr>
        <p:spPr>
          <a:xfrm>
            <a:off x="594360" y="384048"/>
            <a:ext cx="8961120" cy="535940"/>
          </a:xfrm>
          <a:prstGeom prst="rect"/>
          <a:noFill/>
        </p:spPr>
        <p:txBody>
          <a:bodyPr wrap="square">
            <a:spAutoFit/>
          </a:bodyPr>
          <a:p>
            <a:pPr>
              <a:defRPr b="1" sz="3000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1048702" name="TextBox 3"/>
          <p:cNvSpPr txBox="1"/>
          <p:nvPr/>
        </p:nvSpPr>
        <p:spPr>
          <a:xfrm>
            <a:off x="10789920" y="438912"/>
            <a:ext cx="731520" cy="281940"/>
          </a:xfrm>
          <a:prstGeom prst="rect"/>
          <a:noFill/>
        </p:spPr>
        <p:txBody>
          <a:bodyPr wrap="square">
            <a:spAutoFit/>
          </a:bodyPr>
          <a:p>
            <a:pPr algn="r">
              <a:defRPr b="1" sz="1300">
                <a:solidFill>
                  <a:srgbClr val="147E46"/>
                </a:solidFill>
              </a:defRPr>
            </a:pPr>
            <a:r>
              <a:t>07</a:t>
            </a:r>
          </a:p>
        </p:txBody>
      </p:sp>
      <p:sp>
        <p:nvSpPr>
          <p:cNvPr id="1048703" name="Rectangle 4"/>
          <p:cNvSpPr/>
          <p:nvPr/>
        </p:nvSpPr>
        <p:spPr>
          <a:xfrm>
            <a:off x="594360" y="1024128"/>
            <a:ext cx="1005840" cy="73152"/>
          </a:xfrm>
          <a:prstGeom prst="rect"/>
          <a:solidFill>
            <a:srgbClr val="F4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4" name="Oval 5"/>
          <p:cNvSpPr/>
          <p:nvPr/>
        </p:nvSpPr>
        <p:spPr>
          <a:xfrm>
            <a:off x="822960" y="1508760"/>
            <a:ext cx="438912" cy="438912"/>
          </a:xfrm>
          <a:prstGeom prst="ellipse"/>
          <a:solidFill>
            <a:srgbClr val="F4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5" name="TextBox 6"/>
          <p:cNvSpPr txBox="1"/>
          <p:nvPr/>
        </p:nvSpPr>
        <p:spPr>
          <a:xfrm>
            <a:off x="1463040" y="1499616"/>
            <a:ext cx="4480560" cy="358140"/>
          </a:xfrm>
          <a:prstGeom prst="rect"/>
          <a:noFill/>
        </p:spPr>
        <p:txBody>
          <a:bodyPr wrap="square">
            <a:spAutoFit/>
          </a:bodyPr>
          <a:p>
            <a:pPr>
              <a:defRPr b="1" sz="1800">
                <a:solidFill>
                  <a:srgbClr val="FFFFFF"/>
                </a:solidFill>
              </a:defRPr>
            </a:pPr>
            <a:r>
              <a:t>More product categories</a:t>
            </a:r>
          </a:p>
        </p:txBody>
      </p:sp>
      <p:sp>
        <p:nvSpPr>
          <p:cNvPr id="1048706" name="Oval 7"/>
          <p:cNvSpPr/>
          <p:nvPr/>
        </p:nvSpPr>
        <p:spPr>
          <a:xfrm>
            <a:off x="6263640" y="1508760"/>
            <a:ext cx="438912" cy="438912"/>
          </a:xfrm>
          <a:prstGeom prst="ellipse"/>
          <a:solidFill>
            <a:srgbClr val="FAC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7" name="TextBox 8"/>
          <p:cNvSpPr txBox="1"/>
          <p:nvPr/>
        </p:nvSpPr>
        <p:spPr>
          <a:xfrm>
            <a:off x="6903720" y="1499616"/>
            <a:ext cx="4480560" cy="358140"/>
          </a:xfrm>
          <a:prstGeom prst="rect"/>
          <a:noFill/>
        </p:spPr>
        <p:txBody>
          <a:bodyPr wrap="square">
            <a:spAutoFit/>
          </a:bodyPr>
          <a:p>
            <a:pPr>
              <a:defRPr b="1" sz="1800">
                <a:solidFill>
                  <a:srgbClr val="FFFFFF"/>
                </a:solidFill>
              </a:defRPr>
            </a:pPr>
            <a:r>
              <a:t>Multiple language support</a:t>
            </a:r>
          </a:p>
        </p:txBody>
      </p:sp>
      <p:sp>
        <p:nvSpPr>
          <p:cNvPr id="1048708" name="Oval 9"/>
          <p:cNvSpPr/>
          <p:nvPr/>
        </p:nvSpPr>
        <p:spPr>
          <a:xfrm>
            <a:off x="822960" y="2587752"/>
            <a:ext cx="438912" cy="438912"/>
          </a:xfrm>
          <a:prstGeom prst="ellipse"/>
          <a:solidFill>
            <a:srgbClr val="23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9" name="TextBox 10"/>
          <p:cNvSpPr txBox="1"/>
          <p:nvPr/>
        </p:nvSpPr>
        <p:spPr>
          <a:xfrm>
            <a:off x="1463040" y="2578608"/>
            <a:ext cx="4480560" cy="358140"/>
          </a:xfrm>
          <a:prstGeom prst="rect"/>
          <a:noFill/>
        </p:spPr>
        <p:txBody>
          <a:bodyPr wrap="square">
            <a:spAutoFit/>
          </a:bodyPr>
          <a:p>
            <a:pPr>
              <a:defRPr b="1" sz="1800">
                <a:solidFill>
                  <a:srgbClr val="FFFFFF"/>
                </a:solidFill>
              </a:defRPr>
            </a:pPr>
            <a:r>
              <a:t>Farmer &amp; customer login</a:t>
            </a:r>
          </a:p>
        </p:txBody>
      </p:sp>
      <p:sp>
        <p:nvSpPr>
          <p:cNvPr id="1048710" name="Oval 11"/>
          <p:cNvSpPr/>
          <p:nvPr/>
        </p:nvSpPr>
        <p:spPr>
          <a:xfrm>
            <a:off x="6263640" y="2587752"/>
            <a:ext cx="438912" cy="438912"/>
          </a:xfrm>
          <a:prstGeom prst="ellipse"/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1" name="TextBox 12"/>
          <p:cNvSpPr txBox="1"/>
          <p:nvPr/>
        </p:nvSpPr>
        <p:spPr>
          <a:xfrm>
            <a:off x="6903720" y="2578608"/>
            <a:ext cx="4480560" cy="358140"/>
          </a:xfrm>
          <a:prstGeom prst="rect"/>
          <a:noFill/>
        </p:spPr>
        <p:txBody>
          <a:bodyPr wrap="square">
            <a:spAutoFit/>
          </a:bodyPr>
          <a:p>
            <a:pPr>
              <a:defRPr b="1" sz="1800">
                <a:solidFill>
                  <a:srgbClr val="FFFFFF"/>
                </a:solidFill>
              </a:defRPr>
            </a:pPr>
            <a:r>
              <a:t>Delivery tracking</a:t>
            </a:r>
          </a:p>
        </p:txBody>
      </p:sp>
      <p:sp>
        <p:nvSpPr>
          <p:cNvPr id="1048712" name="Oval 13"/>
          <p:cNvSpPr/>
          <p:nvPr/>
        </p:nvSpPr>
        <p:spPr>
          <a:xfrm>
            <a:off x="822960" y="3666744"/>
            <a:ext cx="438912" cy="438912"/>
          </a:xfrm>
          <a:prstGeom prst="ellipse"/>
          <a:solidFill>
            <a:srgbClr val="F4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3" name="TextBox 14"/>
          <p:cNvSpPr txBox="1"/>
          <p:nvPr/>
        </p:nvSpPr>
        <p:spPr>
          <a:xfrm>
            <a:off x="1463040" y="3657600"/>
            <a:ext cx="4480560" cy="358140"/>
          </a:xfrm>
          <a:prstGeom prst="rect"/>
          <a:noFill/>
        </p:spPr>
        <p:txBody>
          <a:bodyPr wrap="square">
            <a:spAutoFit/>
          </a:bodyPr>
          <a:p>
            <a:pPr>
              <a:defRPr b="1" sz="1800">
                <a:solidFill>
                  <a:srgbClr val="FFFFFF"/>
                </a:solidFill>
              </a:defRPr>
            </a:pPr>
            <a:r>
              <a:t>More payment options</a:t>
            </a:r>
          </a:p>
        </p:txBody>
      </p:sp>
      <p:sp>
        <p:nvSpPr>
          <p:cNvPr id="1048714" name="Oval 15"/>
          <p:cNvSpPr/>
          <p:nvPr/>
        </p:nvSpPr>
        <p:spPr>
          <a:xfrm>
            <a:off x="6263640" y="3666744"/>
            <a:ext cx="438912" cy="438912"/>
          </a:xfrm>
          <a:prstGeom prst="ellipse"/>
          <a:solidFill>
            <a:srgbClr val="FAC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5" name="TextBox 16"/>
          <p:cNvSpPr txBox="1"/>
          <p:nvPr/>
        </p:nvSpPr>
        <p:spPr>
          <a:xfrm>
            <a:off x="6903720" y="3657600"/>
            <a:ext cx="4480560" cy="358140"/>
          </a:xfrm>
          <a:prstGeom prst="rect"/>
          <a:noFill/>
        </p:spPr>
        <p:txBody>
          <a:bodyPr wrap="square">
            <a:spAutoFit/>
          </a:bodyPr>
          <a:p>
            <a:pPr>
              <a:defRPr b="1" sz="1800">
                <a:solidFill>
                  <a:srgbClr val="FFFFFF"/>
                </a:solidFill>
              </a:defRPr>
            </a:pPr>
            <a:r>
              <a:t>Chat, ratings &amp; reviews</a:t>
            </a:r>
          </a:p>
        </p:txBody>
      </p:sp>
      <p:sp>
        <p:nvSpPr>
          <p:cNvPr id="1048716" name="Oval 17"/>
          <p:cNvSpPr/>
          <p:nvPr/>
        </p:nvSpPr>
        <p:spPr>
          <a:xfrm>
            <a:off x="822960" y="4745736"/>
            <a:ext cx="438912" cy="438912"/>
          </a:xfrm>
          <a:prstGeom prst="ellipse"/>
          <a:solidFill>
            <a:srgbClr val="23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7" name="TextBox 18"/>
          <p:cNvSpPr txBox="1"/>
          <p:nvPr/>
        </p:nvSpPr>
        <p:spPr>
          <a:xfrm>
            <a:off x="1463040" y="4736592"/>
            <a:ext cx="4480560" cy="358140"/>
          </a:xfrm>
          <a:prstGeom prst="rect"/>
          <a:noFill/>
        </p:spPr>
        <p:txBody>
          <a:bodyPr wrap="square">
            <a:spAutoFit/>
          </a:bodyPr>
          <a:p>
            <a:pPr>
              <a:defRPr b="1" sz="1800">
                <a:solidFill>
                  <a:srgbClr val="FFFFFF"/>
                </a:solidFill>
              </a:defRPr>
            </a:pPr>
            <a:r>
              <a:t>Mobile application</a:t>
            </a:r>
          </a:p>
        </p:txBody>
      </p:sp>
      <p:sp>
        <p:nvSpPr>
          <p:cNvPr id="1048718" name="Oval 19"/>
          <p:cNvSpPr/>
          <p:nvPr/>
        </p:nvSpPr>
        <p:spPr>
          <a:xfrm>
            <a:off x="6263640" y="4745736"/>
            <a:ext cx="438912" cy="438912"/>
          </a:xfrm>
          <a:prstGeom prst="ellipse"/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9" name="TextBox 20"/>
          <p:cNvSpPr txBox="1"/>
          <p:nvPr/>
        </p:nvSpPr>
        <p:spPr>
          <a:xfrm>
            <a:off x="6903720" y="4736592"/>
            <a:ext cx="4480560" cy="358140"/>
          </a:xfrm>
          <a:prstGeom prst="rect"/>
          <a:noFill/>
        </p:spPr>
        <p:txBody>
          <a:bodyPr wrap="square">
            <a:spAutoFit/>
          </a:bodyPr>
          <a:p>
            <a:pPr>
              <a:defRPr b="1" sz="1800">
                <a:solidFill>
                  <a:srgbClr val="FFFFFF"/>
                </a:solidFill>
              </a:defRPr>
            </a:pPr>
            <a:r>
              <a:t>Advanced search &amp; filters</a:t>
            </a:r>
          </a:p>
        </p:txBody>
      </p:sp>
      <p:sp>
        <p:nvSpPr>
          <p:cNvPr id="1048720" name="TextBox 21"/>
          <p:cNvSpPr txBox="1"/>
          <p:nvPr/>
        </p:nvSpPr>
        <p:spPr>
          <a:xfrm>
            <a:off x="4389120" y="5806440"/>
            <a:ext cx="3383280" cy="396240"/>
          </a:xfrm>
          <a:prstGeom prst="rect"/>
          <a:noFill/>
        </p:spPr>
        <p:txBody>
          <a:bodyPr wrap="square">
            <a:spAutoFit/>
          </a:bodyPr>
          <a:p>
            <a:pPr algn="ctr">
              <a:defRPr b="1" sz="2000">
                <a:solidFill>
                  <a:srgbClr val="FAC743"/>
                </a:solidFill>
              </a:defRPr>
            </a:pPr>
            <a:r>
              <a:t>Kisan Direct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SM-M146B</dc:creator>
  <cp:lastModifiedBy>Steve Canny</cp:lastModifiedBy>
  <dcterms:created xsi:type="dcterms:W3CDTF">2013-01-26T22:14:16Z</dcterms:created>
  <dcterms:modified xsi:type="dcterms:W3CDTF">2026-09-30T08:45:57Z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accf5032237143ccb6d893fafebc6592</vt:lpwstr>
  </property>
</Properties>
</file>